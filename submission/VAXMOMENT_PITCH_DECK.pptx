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51960" cy="6858000"/>
          </a:xfrm>
          <a:prstGeom prst="rect">
            <a:avLst/>
          </a:prstGeom>
          <a:solidFill>
            <a:srgbClr val="153D54"/>
          </a:solidFill>
          <a:ln w="12700">
            <a:solidFill>
              <a:srgbClr val="153D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76072"/>
            <a:ext cx="566928" cy="566928"/>
          </a:xfrm>
          <a:prstGeom prst="rect">
            <a:avLst/>
          </a:prstGeom>
          <a:solidFill>
            <a:srgbClr val="167C7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353312" y="594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VaxMoment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30632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AWARENESS TO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COMPLETED, INFORMED ACTION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58368" y="3703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8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privacy-first barrier-to-booking engine for workplace adult vaccination campaigns.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48280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D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VaxMoment · Hack4Health 2026 Non-Technical Track</a:t>
            </a:r>
            <a:endParaRPr lang="en-US" sz="1050" dirty="0"/>
          </a:p>
        </p:txBody>
      </p:sp>
      <p:pic>
        <p:nvPicPr>
          <p:cNvPr id="8" name="Image 0" descr="C:\Users\NewName\Documents\ChatGPT\HACK4HEALTH\submission\assets\employee-jour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731520"/>
            <a:ext cx="7086600" cy="4434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92040" y="5440680"/>
            <a:ext cx="6355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02352" y="5614416"/>
            <a:ext cx="5925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AI interprets optional language · Policy controls the action · Humans own clinical questions · Employers see aggregates only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052560" y="651052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VaxMoment · Evidence-informed proposition · 11 Aug 2026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67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gap is not awareness alone. It is action.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64008" cy="2057400"/>
          </a:xfrm>
          <a:prstGeom prst="rect">
            <a:avLst/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5636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7C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28.2%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59536" y="205740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 influenza uptake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2386584"/>
            <a:ext cx="29992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Singapore residents aged 18–74 reporting influenza vaccination in 2024. This population measure does not estimate unmet need among recommended groups.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417320"/>
            <a:ext cx="64008" cy="2057400"/>
          </a:xfrm>
          <a:prstGeom prst="rect">
            <a:avLst/>
          </a:prstGeom>
          <a:solidFill>
            <a:srgbClr val="153D54"/>
          </a:solidFill>
          <a:ln w="12700">
            <a:solidFill>
              <a:srgbClr val="153D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60020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 already exists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8576" y="1984248"/>
            <a:ext cx="299923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HealthHub and Healthier SG already provide trusted information, subsidies, records and appointment pathways. Another FAQ directory is not the wedge.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417320"/>
            <a:ext cx="64008" cy="2057400"/>
          </a:xfrm>
          <a:prstGeom prst="rect">
            <a:avLst/>
          </a:prstGeom>
          <a:solidFill>
            <a:srgbClr val="B5473F"/>
          </a:solidFill>
          <a:ln w="12700">
            <a:solidFill>
              <a:srgbClr val="B547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60020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reminders are inconsistent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57616" y="1984248"/>
            <a:ext cx="299923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262,085-person health-system RCT found portal and text reminders did not increase overall influenza vaccination. Message volume is not the same as action.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7C75"/>
                </a:solidFill>
              </a:rPr>
              <a:t>Market hypothesis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4224528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People may stall for different reasons—practical access, confidence, information, private clinical questions or simply no concrete plan. The product must test and remove the specific friction, not send a smarter-looking reminder.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4360" y="6510528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https://www.moh.gov.sg/newsroom/national-population-health-survey-2024-shows-singaporeans-are-adopting-healthier-lifestyles---but-rising-obesity-is-a-concern/ · https://www.healthhub.sg/programmes/hsg · https://pmc.ncbi.nlm.nih.gov/articles/PMC10949147/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9052560" y="651052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VaxMoment · Evidence-informed proposition · 11 Aug 2026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67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WEDGE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governed barrier-to-booking engine—not a vaccine chatbot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93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07008" y="1755648"/>
            <a:ext cx="1527048" cy="0"/>
          </a:xfrm>
          <a:prstGeom prst="line">
            <a:avLst/>
          </a:prstGeom>
          <a:noFill/>
          <a:ln w="19050">
            <a:solidFill>
              <a:srgbClr val="9FB4BE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40080" y="2212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</a:rPr>
              <a:t>Private barrier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24328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175"/>
                </a:solidFill>
              </a:rPr>
              <a:t>Employee selects or describes what is getting in the way.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2907792" y="1508760"/>
            <a:ext cx="502920" cy="502920"/>
          </a:xfrm>
          <a:prstGeom prst="ellipse">
            <a:avLst/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16093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755648"/>
            <a:ext cx="1527048" cy="0"/>
          </a:xfrm>
          <a:prstGeom prst="line">
            <a:avLst/>
          </a:prstGeom>
          <a:noFill/>
          <a:ln w="19050">
            <a:solidFill>
              <a:srgbClr val="9FB4BE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907792" y="2212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</a:rPr>
              <a:t>User confirmation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07792" y="2624328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175"/>
                </a:solidFill>
              </a:rPr>
              <a:t>The system proposes one allowlisted category; the employee confirms or changes it.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175504" y="1508760"/>
            <a:ext cx="502920" cy="502920"/>
          </a:xfrm>
          <a:prstGeom prst="ellipse">
            <a:avLst/>
          </a:prstGeom>
          <a:solidFill>
            <a:srgbClr val="D89A28"/>
          </a:solidFill>
          <a:ln w="12700">
            <a:solidFill>
              <a:srgbClr val="D89A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5504" y="16093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42432" y="1755648"/>
            <a:ext cx="1527048" cy="0"/>
          </a:xfrm>
          <a:prstGeom prst="line">
            <a:avLst/>
          </a:prstGeom>
          <a:noFill/>
          <a:ln w="19050">
            <a:solidFill>
              <a:srgbClr val="9FB4BE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175504" y="2212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</a:rPr>
              <a:t>Governed action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75504" y="2624328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175"/>
                </a:solidFill>
              </a:rPr>
              <a:t>A deterministic policy selects the permitted next action—never an improvised clinical recommendation.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443216" y="1508760"/>
            <a:ext cx="502920" cy="502920"/>
          </a:xfrm>
          <a:prstGeom prst="ellipse">
            <a:avLst/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43216" y="16093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10144" y="1755648"/>
            <a:ext cx="1527048" cy="0"/>
          </a:xfrm>
          <a:prstGeom prst="line">
            <a:avLst/>
          </a:prstGeom>
          <a:noFill/>
          <a:ln w="19050">
            <a:solidFill>
              <a:srgbClr val="9FB4BE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443216" y="2212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</a:rPr>
              <a:t>Execution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43216" y="2624328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175"/>
                </a:solidFill>
              </a:rPr>
              <a:t>A slot, approved information route, opt-out or accountable human handoff follows.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9710928" y="1508760"/>
            <a:ext cx="502920" cy="502920"/>
          </a:xfrm>
          <a:prstGeom prst="ellipse">
            <a:avLst/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10928" y="16093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10928" y="2212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</a:rPr>
              <a:t>Outcome integrity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10928" y="2624328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175"/>
                </a:solidFill>
              </a:rPr>
              <a:t>Booking and completion remain separate; only an authoritative source can verify completion.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914400" y="4343400"/>
            <a:ext cx="10287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4599432"/>
            <a:ext cx="731520" cy="310896"/>
          </a:xfrm>
          <a:prstGeom prst="roundRect">
            <a:avLst>
              <a:gd name="adj" fmla="val 44118"/>
            </a:avLst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46177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103120" y="45994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238"/>
                </a:solidFill>
              </a:rPr>
              <a:t>Understands language and proposes a category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92040" y="4599432"/>
            <a:ext cx="1005840" cy="310896"/>
          </a:xfrm>
          <a:prstGeom prst="roundRect">
            <a:avLst>
              <a:gd name="adj" fmla="val 44118"/>
            </a:avLst>
          </a:prstGeom>
          <a:solidFill>
            <a:srgbClr val="153D54"/>
          </a:solidFill>
          <a:ln w="12700">
            <a:solidFill>
              <a:srgbClr val="153D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4617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80760" y="45994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238"/>
                </a:solidFill>
              </a:rPr>
              <a:t>Controls what the system is allowed to do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641080" y="4599432"/>
            <a:ext cx="960120" cy="310896"/>
          </a:xfrm>
          <a:prstGeom prst="roundRect">
            <a:avLst>
              <a:gd name="adj" fmla="val 44118"/>
            </a:avLst>
          </a:prstGeom>
          <a:solidFill>
            <a:srgbClr val="B5473F"/>
          </a:solidFill>
          <a:ln w="12700">
            <a:solidFill>
              <a:srgbClr val="B547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41080" y="46177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784080" y="459943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32238"/>
                </a:solidFill>
              </a:rPr>
              <a:t>Owns clinical judgement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052560" y="651052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VaxMoment · Evidence-informed proposition · 11 Aug 2026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67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PROTOTYPE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employee sees the reason, boundary and next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</p:sp>
      <p:pic>
        <p:nvPicPr>
          <p:cNvPr id="5" name="Image 0" descr="C:\Users\NewName\Documents\ChatGPT\HACK4HEALTH\submission\assets\governed-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3312"/>
            <a:ext cx="6858000" cy="42885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389888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18120" y="1389888"/>
            <a:ext cx="64008" cy="1170432"/>
          </a:xfrm>
          <a:prstGeom prst="rect">
            <a:avLst/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37576" y="157276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classification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37576" y="1956816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category is proposed and confirmed—never silently inferred as fact.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18120" y="274320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18120" y="2743200"/>
            <a:ext cx="64008" cy="1170432"/>
          </a:xfrm>
          <a:prstGeom prst="rect">
            <a:avLst/>
          </a:prstGeom>
          <a:solidFill>
            <a:srgbClr val="153D54"/>
          </a:solidFill>
          <a:ln w="12700">
            <a:solidFill>
              <a:srgbClr val="153D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37576" y="292608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intervention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37576" y="331012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policy engine authorizes one bounded action matched to the barrier family.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18120" y="4096512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818120" y="4096512"/>
            <a:ext cx="64008" cy="1170432"/>
          </a:xfrm>
          <a:prstGeom prst="rect">
            <a:avLst/>
          </a:prstGeom>
          <a:solidFill>
            <a:srgbClr val="B5473F"/>
          </a:solidFill>
          <a:ln w="12700">
            <a:solidFill>
              <a:srgbClr val="B5473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37576" y="42793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stop line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37576" y="466344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suitability questions create an unsubmitted human-handoff receipt; the AI does not answer.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4360" y="6510528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prototype: https://vax-moment.vercel.app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9052560" y="651052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VaxMoment · Evidence-informed proposition · 11 Aug 2026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67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BEHAVIOURAL RATIONALE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points toward convenience plus concrete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44752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44752"/>
            <a:ext cx="64008" cy="2103120"/>
          </a:xfrm>
          <a:prstGeom prst="rect">
            <a:avLst/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9105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7C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+4.2pp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77824" y="208483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+ time planning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2414016"/>
            <a:ext cx="2953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 workplace RCT found a full-sample increase after employees were prompted to form a concrete date-and-time plan.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07408" y="1444752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7408" y="1444752"/>
            <a:ext cx="64008" cy="2103120"/>
          </a:xfrm>
          <a:prstGeom prst="rect">
            <a:avLst/>
          </a:prstGeom>
          <a:solidFill>
            <a:srgbClr val="153D54"/>
          </a:solidFill>
          <a:ln w="12700">
            <a:solidFill>
              <a:srgbClr val="153D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62763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 is unproven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26864" y="2011680"/>
            <a:ext cx="29535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RCT supports a testable mechanism, not an effect-size promise for Singapore, VaxMoment, or a different campaign design.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56448" y="1444752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56448" y="1444752"/>
            <a:ext cx="64008" cy="2103120"/>
          </a:xfrm>
          <a:prstGeom prst="rect">
            <a:avLst/>
          </a:prstGeom>
          <a:solidFill>
            <a:srgbClr val="B5473F"/>
          </a:solidFill>
          <a:ln w="12700">
            <a:solidFill>
              <a:srgbClr val="B547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162763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“AI uplift” claim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75904" y="2011680"/>
            <a:ext cx="29535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Demographic tailoring and behavioural framing have also produced null results. VaxMoment is an evidence-informed proposition awaiting a controlled pilot.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4069080"/>
            <a:ext cx="10789920" cy="114300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A9D6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7C75"/>
                </a:solidFill>
              </a:rPr>
              <a:t>Design implication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77440" y="4251960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Use AI only to understand long-tail language. Let deterministic policy and service operations remove the friction. Measure authoritative completion—not clicks, message opens or chatbot engagement.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6510528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https://pmc.ncbi.nlm.nih.gov/articles/PMC3127912/ · Transfer limits documented in submission/SUPPORTING_EVIDENCE.md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9052560" y="651052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VaxMoment · Evidence-informed proposition · 11 Aug 2026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67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moat is the operating loop—not the chat interface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17320"/>
          <a:ext cx="10835640" cy="34290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874520"/>
                <a:gridCol w="1920240"/>
                <a:gridCol w="1783080"/>
                <a:gridCol w="169164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Alternative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Information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Barrier route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Clinical boundary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Employer privacy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HealthHub / Healthier SG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established in review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Clinic-led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employer-facing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Corporate vaccine provider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established in review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Provider-led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Generic AI chatbot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Variable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Usually link-out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Conversation only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Often unclear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Often unclear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VaxMoment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Source-labelled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Barrier → slot/handoff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workflow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Observable stop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3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Aggregate + suppression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5166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7C75"/>
                </a:solidFill>
              </a:rPr>
              <a:t>What compounds after a pilot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0" y="511149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Approved intervention library · barrier-to-outcome evidence · operational integrations · trusted distribution · privacy governance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743200" y="56509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6175"/>
                </a:solidFill>
              </a:rPr>
              <a:t>Current defensibility is limited; these are future moat mechanisms, not present assets.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052560" y="651052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VaxMoment · Evidence-informed proposition · 11 Aug 2026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67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ORGANIZER ECOSYSTEM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Microsoft pathway for an executable governed contract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72768"/>
            <a:ext cx="1938528" cy="1234440"/>
          </a:xfrm>
          <a:prstGeom prst="roundRect">
            <a:avLst/>
          </a:prstGeom>
          <a:solidFill>
            <a:srgbClr val="DFF3EF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64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7C75"/>
                </a:solidFill>
              </a:rPr>
              <a:t>COPILOT STUDIO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15798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26175"/>
                </a:solidFill>
              </a:rPr>
              <a:t>Bounded language-to-category output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2624328" y="2185416"/>
            <a:ext cx="246888" cy="0"/>
          </a:xfrm>
          <a:prstGeom prst="line">
            <a:avLst/>
          </a:prstGeom>
          <a:noFill/>
          <a:ln w="19050">
            <a:solidFill>
              <a:srgbClr val="167C7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1572768"/>
            <a:ext cx="193852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2384" y="1764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238"/>
                </a:solidFill>
              </a:rPr>
              <a:t>AGENT FLOW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72384" y="215798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26175"/>
                </a:solidFill>
              </a:rPr>
              <a:t>Confirmation-gated deterministic action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892040" y="2185416"/>
            <a:ext cx="246888" cy="0"/>
          </a:xfrm>
          <a:prstGeom prst="line">
            <a:avLst/>
          </a:prstGeom>
          <a:noFill/>
          <a:ln w="19050">
            <a:solidFill>
              <a:srgbClr val="167C7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93792" y="1572768"/>
            <a:ext cx="193852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0096" y="1764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238"/>
                </a:solidFill>
              </a:rPr>
              <a:t>MICROSOFT BOOKINGS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40096" y="215798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26175"/>
                </a:solidFill>
              </a:rPr>
              <a:t>Availability and appointment execution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159752" y="2185416"/>
            <a:ext cx="246888" cy="0"/>
          </a:xfrm>
          <a:prstGeom prst="line">
            <a:avLst/>
          </a:prstGeom>
          <a:noFill/>
          <a:ln w="19050">
            <a:solidFill>
              <a:srgbClr val="167C7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61504" y="1572768"/>
            <a:ext cx="193852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07808" y="1764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238"/>
                </a:solidFill>
              </a:rPr>
              <a:t>DATAVERSE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07808" y="215798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26175"/>
                </a:solidFill>
              </a:rPr>
              <a:t>Campaign state, consent and provenance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9427464" y="2185416"/>
            <a:ext cx="246888" cy="0"/>
          </a:xfrm>
          <a:prstGeom prst="line">
            <a:avLst/>
          </a:prstGeom>
          <a:noFill/>
          <a:ln w="19050">
            <a:solidFill>
              <a:srgbClr val="167C7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29216" y="1572768"/>
            <a:ext cx="193852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0" y="1764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238"/>
                </a:solidFill>
              </a:rPr>
              <a:t>ENTRA + GOVERNANCE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875520" y="215798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26175"/>
                </a:solidFill>
              </a:rPr>
              <a:t>Role identity, DLP, ALM and monitoring</a:t>
            </a:r>
            <a:endParaRPr lang="en-US" sz="920" dirty="0"/>
          </a:p>
        </p:txBody>
      </p:sp>
      <p:pic>
        <p:nvPicPr>
          <p:cNvPr id="24" name="Image 0" descr="C:\Users\NewName\Documents\ChatGPT\HACK4HEALTH\submission\assets\operator-cons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337560"/>
            <a:ext cx="5669280" cy="283464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629400" y="3337560"/>
            <a:ext cx="4800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629400" y="3337560"/>
            <a:ext cx="64008" cy="1170432"/>
          </a:xfrm>
          <a:prstGeom prst="rect">
            <a:avLst/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48856" y="352044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now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848856" y="3904488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ports, deterministic adapters, policy/state/privacy tests, Adaptive Card payloads, tool contracts and tested fallback and denial paths.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629400" y="4681728"/>
            <a:ext cx="4800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629400" y="4681728"/>
            <a:ext cx="64008" cy="1170432"/>
          </a:xfrm>
          <a:prstGeom prst="rect">
            <a:avLst/>
          </a:prstGeom>
          <a:solidFill>
            <a:srgbClr val="D89A28"/>
          </a:solidFill>
          <a:ln w="12700">
            <a:solidFill>
              <a:srgbClr val="D89A2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48856" y="4864608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tenant access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848856" y="5248656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 Copilot agent, Dataverse solution, Bookings connector, Entra roles and production DLP. None are claimed as live or Parkway-approved.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94360" y="6510528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https://learn.microsoft.com/en-us/microsoft-copilot-studio/guidance/sec-gov-intro · https://learn.microsoft.com/en-us/microsoft-copilot-studio/authoring-ask-with-adaptive-card · SMUAI/Petani AI are organizer ecosystem partners; no technical integration is claimed.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9052560" y="651052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VaxMoment · Evidence-informed proposition · 11 Aug 2026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67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AND 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Privacy is part of the value proposition—not a footer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</p:sp>
      <p:pic>
        <p:nvPicPr>
          <p:cNvPr id="5" name="Image 0" descr="C:\Users\NewName\Documents\ChatGPT\HACK4HEALTH\submission\assets\employer-supp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53312"/>
            <a:ext cx="6629400" cy="4142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71232" y="1389888"/>
            <a:ext cx="3703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71232" y="1389888"/>
            <a:ext cx="64008" cy="1097280"/>
          </a:xfrm>
          <a:prstGeom prst="rect">
            <a:avLst/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90688" y="157276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90688" y="1956816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Chooses what to disclose; optional text is transient; decline is respected.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71232" y="2651760"/>
            <a:ext cx="3703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71232" y="2651760"/>
            <a:ext cx="64008" cy="1097280"/>
          </a:xfrm>
          <a:prstGeom prst="rect">
            <a:avLst/>
          </a:prstGeom>
          <a:solidFill>
            <a:srgbClr val="153D54"/>
          </a:solidFill>
          <a:ln w="12700">
            <a:solidFill>
              <a:srgbClr val="153D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90688" y="28346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Parkway operator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90688" y="3218688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Receives actionable handoff and campaign operations—not autonomous clinical answers.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571232" y="3913632"/>
            <a:ext cx="3703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71232" y="3913632"/>
            <a:ext cx="64008" cy="1097280"/>
          </a:xfrm>
          <a:prstGeom prst="rect">
            <a:avLst/>
          </a:prstGeom>
          <a:solidFill>
            <a:srgbClr val="D89A28"/>
          </a:solidFill>
          <a:ln w="12700">
            <a:solidFill>
              <a:srgbClr val="D89A2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90688" y="40965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90688" y="4480560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Receives a fixed aggregate projection; small cohorts are suppressed; no individual barrier is exposed.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13232" y="5779008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473F"/>
                </a:solidFill>
              </a:rPr>
              <a:t>Production requires server-side authorization, anti-differencing, retention controls and qualified privacy review.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052560" y="651052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VaxMoment · Evidence-informed proposition · 11 Aug 2026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67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 AND GTM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campaign. One site. One falsifiable pilot.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89888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389888"/>
            <a:ext cx="64008" cy="1965960"/>
          </a:xfrm>
          <a:prstGeom prst="rect">
            <a:avLst/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7276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buyer hypothesis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956816"/>
            <a:ext cx="30449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Corporate-health programme owner as buyer and integration owner; employer as campaign sponsor or co-funder. Both remain to validate.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389888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389888"/>
            <a:ext cx="64008" cy="1965960"/>
          </a:xfrm>
          <a:prstGeom prst="rect">
            <a:avLst/>
          </a:prstGeom>
          <a:solidFill>
            <a:srgbClr val="153D54"/>
          </a:solidFill>
          <a:ln w="12700">
            <a:solidFill>
              <a:srgbClr val="153D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57276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entry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08576" y="1956816"/>
            <a:ext cx="30449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fixed-fee, time-bounded pilot priced against campaign operations and unused appointment capacity—not hypothetical healthcare savings.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19872" y="1389888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19872" y="1389888"/>
            <a:ext cx="64008" cy="1965960"/>
          </a:xfrm>
          <a:prstGeom prst="rect">
            <a:avLst/>
          </a:prstGeom>
          <a:solidFill>
            <a:srgbClr val="D89A28"/>
          </a:solidFill>
          <a:ln w="12700">
            <a:solidFill>
              <a:srgbClr val="D89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57276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Wedge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9328" y="1956816"/>
            <a:ext cx="30449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employer, one influenza programme, one workplace site and one campaign window. Expand only after evidence and governance review.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3840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7C75"/>
                </a:solidFill>
              </a:rPr>
              <a:t>Illustrative 90-day validation path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4224528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4224528"/>
            <a:ext cx="64008" cy="1371600"/>
          </a:xfrm>
          <a:prstGeom prst="rect">
            <a:avLst/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43708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7C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0–30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05256" y="486460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+ data contract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5256" y="5193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workflow; freeze purpose, fields, source and ownership.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4224528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9120" y="4224528"/>
            <a:ext cx="64008" cy="1371600"/>
          </a:xfrm>
          <a:prstGeom prst="rect">
            <a:avLst/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43708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7C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31–60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608576" y="486460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Concierge + governance gate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08576" y="5193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manually; secure build and approvals must pass before enrolment.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92440" y="4224528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92440" y="4224528"/>
            <a:ext cx="64008" cy="1371600"/>
          </a:xfrm>
          <a:prstGeom prst="rect">
            <a:avLst/>
          </a:prstGeom>
          <a:solidFill>
            <a:srgbClr val="D89A28"/>
          </a:solidFill>
          <a:ln w="12700">
            <a:solidFill>
              <a:srgbClr val="D89A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11896" y="43708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9A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61–90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311896" y="486460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or stop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11896" y="5193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if gates pass: run controlled campaign and make a measured kill/scale decision.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052560" y="651052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VaxMoment · Evidence-informed proposition · 11 Aug 2026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67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 authoritative completion—and the cost of getting there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90472"/>
            <a:ext cx="1280160" cy="310896"/>
          </a:xfrm>
          <a:prstGeom prst="roundRect">
            <a:avLst>
              <a:gd name="adj" fmla="val 44118"/>
            </a:avLst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087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0" y="141732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Authoritative completion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7784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75"/>
                </a:solidFill>
              </a:rPr>
              <a:t>Same source and observation window in both arms.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0" y="2075688"/>
            <a:ext cx="877824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633472"/>
            <a:ext cx="1280160" cy="310896"/>
          </a:xfrm>
          <a:prstGeom prst="roundRect">
            <a:avLst>
              <a:gd name="adj" fmla="val 44118"/>
            </a:avLst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6517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256032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Booking + time to action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2560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75"/>
                </a:solidFill>
              </a:rPr>
              <a:t>Understand conversion and friction.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0" y="3218688"/>
            <a:ext cx="877824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776472"/>
            <a:ext cx="1280160" cy="310896"/>
          </a:xfrm>
          <a:prstGeom prst="roundRect">
            <a:avLst>
              <a:gd name="adj" fmla="val 44118"/>
            </a:avLst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7947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370332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Support minutes + exceptions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7840" y="3703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75"/>
                </a:solidFill>
              </a:rPr>
              <a:t>A solution that overwhelms staff fails.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0" y="4361688"/>
            <a:ext cx="877824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919472"/>
            <a:ext cx="1280160" cy="310896"/>
          </a:xfrm>
          <a:prstGeom prst="roundRect">
            <a:avLst>
              <a:gd name="adj" fmla="val 44118"/>
            </a:avLst>
          </a:prstGeom>
          <a:solidFill>
            <a:srgbClr val="B5473F"/>
          </a:solidFill>
          <a:ln w="12700">
            <a:solidFill>
              <a:srgbClr val="B547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9377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484632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Privacy, clinical and trust events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4846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175"/>
                </a:solidFill>
              </a:rPr>
              <a:t>Zero tolerance for generated clinical answers or employer access violations.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86000" y="5504688"/>
            <a:ext cx="877824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715000"/>
            <a:ext cx="10561320" cy="502920"/>
          </a:xfrm>
          <a:prstGeom prst="roundRect">
            <a:avLst/>
          </a:prstGeom>
          <a:solidFill>
            <a:srgbClr val="FFF2D8"/>
          </a:solidFill>
          <a:ln w="12700">
            <a:solidFill>
              <a:srgbClr val="E8C4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843016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5410"/>
                </a:solidFill>
              </a:rPr>
              <a:t>Current status: pilot design drafted; discovery gates remain unmet. No buyer commitment, customer interviews or measured uplift yet.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052560" y="651052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VaxMoment · Evidence-informed proposition · 11 Aug 2026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3D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85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D6CD"/>
                </a:solidFill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118872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Help us validate the workflow contract, then earn one governed workplace pilot.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13232" y="288036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880360"/>
            <a:ext cx="64008" cy="1554480"/>
          </a:xfrm>
          <a:prstGeom prst="rect">
            <a:avLst/>
          </a:prstGeom>
          <a:solidFill>
            <a:srgbClr val="167C75"/>
          </a:solidFill>
          <a:ln w="12700">
            <a:solidFill>
              <a:srgbClr val="167C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306324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Parkway Shenton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3447288"/>
            <a:ext cx="2862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operator workflow interview, one campaign pathway and an accountable handoff owner.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24528" y="288036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24528" y="2880360"/>
            <a:ext cx="64008" cy="1554480"/>
          </a:xfrm>
          <a:prstGeom prst="rect">
            <a:avLst/>
          </a:prstGeom>
          <a:solidFill>
            <a:srgbClr val="D89A28"/>
          </a:solidFill>
          <a:ln w="12700">
            <a:solidFill>
              <a:srgbClr val="D89A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306324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43984" y="3447288"/>
            <a:ext cx="2862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sandbox tenant and guidance to implement the prepared Copilot Studio, agent-flow, Bookings and Dataverse contracts.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35824" y="288036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EE4"/>
            </a:solidFill>
            <a:prstDash val="solid"/>
          </a:ln>
          <a:effectLst>
            <a:outerShdw sx="100000" sy="100000" kx="0" ky="0" algn="bl" rotWithShape="0" blurRad="12700" dist="50800" dir="2700000">
              <a:srgbClr val="9AA6B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35824" y="2880360"/>
            <a:ext cx="64008" cy="1554480"/>
          </a:xfrm>
          <a:prstGeom prst="rect">
            <a:avLst/>
          </a:prstGeom>
          <a:solidFill>
            <a:srgbClr val="B5473F"/>
          </a:solidFill>
          <a:ln w="12700">
            <a:solidFill>
              <a:srgbClr val="B547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306324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sponsor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0" y="3447288"/>
            <a:ext cx="2862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workplace campaign with approved aggregate evaluation and a pre-registered decision threshold.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1560" y="519379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DDE8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Don’t optimise vaccination campaigns for clicks. Optimise the journey for completed, informed action.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6126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5C6CE"/>
                </a:solidFill>
              </a:rPr>
              <a:t>Prototype: https://vax-moment.vercel.app  ·  Source: https://github.com/smellywesley/Vax-moment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VaxMoment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VaxMoment — From awareness to completed, informed action</dc:title>
  <dc:subject>Adult vaccination adoption — evidence-informed competition proposal</dc:subject>
  <dc:creator>VaxMoment</dc:creator>
  <cp:lastModifiedBy>VaxMoment</cp:lastModifiedBy>
  <cp:revision>1</cp:revision>
  <dcterms:created xsi:type="dcterms:W3CDTF">2026-08-12T13:07:34Z</dcterms:created>
  <dcterms:modified xsi:type="dcterms:W3CDTF">2026-08-12T13:07:34Z</dcterms:modified>
</cp:coreProperties>
</file>